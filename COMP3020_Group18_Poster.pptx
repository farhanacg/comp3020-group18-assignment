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Akter" userId="00cb6ad9c042b26e" providerId="LiveId" clId="{337EFFA1-CB32-4CDF-9728-6CF1C9E56487}"/>
    <pc:docChg chg="modSld">
      <pc:chgData name="Farhana Akter" userId="00cb6ad9c042b26e" providerId="LiveId" clId="{337EFFA1-CB32-4CDF-9728-6CF1C9E56487}" dt="2026-10-09T07:22:48.901" v="3" actId="1076"/>
      <pc:docMkLst>
        <pc:docMk/>
      </pc:docMkLst>
      <pc:sldChg chg="modSp mod">
        <pc:chgData name="Farhana Akter" userId="00cb6ad9c042b26e" providerId="LiveId" clId="{337EFFA1-CB32-4CDF-9728-6CF1C9E56487}" dt="2026-10-09T07:22:48.901" v="3" actId="1076"/>
        <pc:sldMkLst>
          <pc:docMk/>
          <pc:sldMk cId="0" sldId="256"/>
        </pc:sldMkLst>
        <pc:spChg chg="mod">
          <ac:chgData name="Farhana Akter" userId="00cb6ad9c042b26e" providerId="LiveId" clId="{337EFFA1-CB32-4CDF-9728-6CF1C9E56487}" dt="2026-10-09T07:21:10.979" v="2" actId="6549"/>
          <ac:spMkLst>
            <pc:docMk/>
            <pc:sldMk cId="0" sldId="256"/>
            <ac:spMk id="3" creationId="{00000000-0000-0000-0000-000000000000}"/>
          </ac:spMkLst>
        </pc:spChg>
        <pc:spChg chg="mod">
          <ac:chgData name="Farhana Akter" userId="00cb6ad9c042b26e" providerId="LiveId" clId="{337EFFA1-CB32-4CDF-9728-6CF1C9E56487}" dt="2026-10-09T07:22:48.901" v="3" actId="1076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B4332"/>
                </a:solidFill>
                <a:latin typeface="+mn-lt"/>
              </a:defRPr>
            </a:pPr>
            <a:r>
              <a:rPr lang="en-US" sz="950" b="0" i="0" u="none" strike="noStrike">
                <a:solidFill>
                  <a:srgbClr val="1B4332"/>
                </a:solidFill>
                <a:latin typeface="+mn-lt"/>
              </a:rPr>
              <a:t>Most frequent words (top 10 of 2,627)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C1C1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uefa</c:v>
                </c:pt>
                <c:pt idx="1">
                  <c:v>infantino</c:v>
                </c:pt>
                <c:pt idx="2">
                  <c:v>boycott</c:v>
                </c:pt>
                <c:pt idx="3">
                  <c:v>football</c:v>
                </c:pt>
                <c:pt idx="4">
                  <c:v>sell</c:v>
                </c:pt>
                <c:pt idx="5">
                  <c:v>trump</c:v>
                </c:pt>
                <c:pt idx="6">
                  <c:v>sport</c:v>
                </c:pt>
                <c:pt idx="7">
                  <c:v>plan</c:v>
                </c:pt>
                <c:pt idx="8">
                  <c:v>private</c:v>
                </c:pt>
                <c:pt idx="9">
                  <c:v>bbc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342</c:v>
                </c:pt>
                <c:pt idx="1">
                  <c:v>205</c:v>
                </c:pt>
                <c:pt idx="2">
                  <c:v>195</c:v>
                </c:pt>
                <c:pt idx="3">
                  <c:v>149</c:v>
                </c:pt>
                <c:pt idx="4">
                  <c:v>125</c:v>
                </c:pt>
                <c:pt idx="5">
                  <c:v>122</c:v>
                </c:pt>
                <c:pt idx="6">
                  <c:v>120</c:v>
                </c:pt>
                <c:pt idx="7">
                  <c:v>113</c:v>
                </c:pt>
                <c:pt idx="8">
                  <c:v>107</c:v>
                </c:pt>
                <c:pt idx="9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F-4575-A30C-6A1FB5ED04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80" b="0" i="0" u="none" strike="noStrike">
                <a:solidFill>
                  <a:srgbClr val="1C1C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4332"/>
                </a:solidFill>
                <a:latin typeface="+mn-lt"/>
              </a:defRPr>
            </a:pPr>
            <a:r>
              <a:rPr lang="en-US" sz="900" b="0" i="0" u="none" strike="noStrike">
                <a:solidFill>
                  <a:srgbClr val="1B4332"/>
                </a:solidFill>
                <a:latin typeface="+mn-lt"/>
              </a:rPr>
              <a:t>Cluster sizes (793 posts, k = 8)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BC-4CA4-921E-AF384A8F3605}"/>
              </c:ext>
            </c:extLst>
          </c:dPt>
          <c:dPt>
            <c:idx val="1"/>
            <c:invertIfNegative val="0"/>
            <c:bubble3D val="0"/>
            <c:spPr>
              <a:solidFill>
                <a:srgbClr val="74C6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BC-4CA4-921E-AF384A8F3605}"/>
              </c:ext>
            </c:extLst>
          </c:dPt>
          <c:dPt>
            <c:idx val="2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BC-4CA4-921E-AF384A8F3605}"/>
              </c:ext>
            </c:extLst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3BC-4CA4-921E-AF384A8F3605}"/>
              </c:ext>
            </c:extLst>
          </c:dPt>
          <c:dPt>
            <c:idx val="4"/>
            <c:invertIfNegative val="0"/>
            <c:bubble3D val="0"/>
            <c:spPr>
              <a:solidFill>
                <a:srgbClr val="5279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3BC-4CA4-921E-AF384A8F3605}"/>
              </c:ext>
            </c:extLst>
          </c:dPt>
          <c:dPt>
            <c:idx val="5"/>
            <c:invertIfNegative val="0"/>
            <c:bubble3D val="0"/>
            <c:spPr>
              <a:solidFill>
                <a:srgbClr val="4079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3BC-4CA4-921E-AF384A8F3605}"/>
              </c:ext>
            </c:extLst>
          </c:dPt>
          <c:dPt>
            <c:idx val="6"/>
            <c:invertIfNegative val="0"/>
            <c:bubble3D val="0"/>
            <c:spPr>
              <a:solidFill>
                <a:srgbClr val="8B5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3BC-4CA4-921E-AF384A8F3605}"/>
              </c:ext>
            </c:extLst>
          </c:dPt>
          <c:dPt>
            <c:idx val="7"/>
            <c:invertIfNegative val="0"/>
            <c:bubble3D val="0"/>
            <c:spPr>
              <a:solidFill>
                <a:srgbClr val="6C75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3BC-4CA4-921E-AF384A8F360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C1C1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</c:v>
                </c:pt>
                <c:pt idx="1">
                  <c:v>44</c:v>
                </c:pt>
                <c:pt idx="2">
                  <c:v>84</c:v>
                </c:pt>
                <c:pt idx="3">
                  <c:v>22</c:v>
                </c:pt>
                <c:pt idx="4">
                  <c:v>35</c:v>
                </c:pt>
                <c:pt idx="5">
                  <c:v>23</c:v>
                </c:pt>
                <c:pt idx="6">
                  <c:v>487</c:v>
                </c:pt>
                <c:pt idx="7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3BC-4CA4-921E-AF384A8F36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30" b="0" i="0" u="none" strike="noStrike">
                <a:solidFill>
                  <a:srgbClr val="1C1C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4332"/>
                </a:solidFill>
                <a:latin typeface="+mn-lt"/>
              </a:defRPr>
            </a:pPr>
            <a:r>
              <a:rPr lang="en-US" sz="900" b="0" i="0" u="none" strike="noStrike">
                <a:solidFill>
                  <a:srgbClr val="1B4332"/>
                </a:solidFill>
                <a:latin typeface="+mn-lt"/>
              </a:rPr>
              <a:t>Network edge density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 density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41-465C-B1B6-92271071D108}"/>
              </c:ext>
            </c:extLst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41-465C-B1B6-92271071D108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60" b="0" i="0" u="none" strike="noStrike">
                    <a:solidFill>
                      <a:srgbClr val="1C1C1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Normal seed</c:v>
                </c:pt>
                <c:pt idx="1">
                  <c:v>News seed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4.8999999999999998E-3</c:v>
                </c:pt>
                <c:pt idx="1">
                  <c:v>1.06E-2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41-465C-B1B6-92271071D1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0" b="0" i="0" u="none" strike="noStrike">
                <a:solidFill>
                  <a:srgbClr val="1C1C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825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hart" Target="../charts/chart1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392656" cy="960120"/>
          </a:xfrm>
          <a:prstGeom prst="roundRect">
            <a:avLst>
              <a:gd name="adj" fmla="val 761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93192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World Cup 2026 Discussion on Bluesky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09982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Annelise Tough  ·  Neville Georgiades  ·  Farhana Akter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149840" y="448056"/>
            <a:ext cx="4389120" cy="704088"/>
          </a:xfrm>
          <a:prstGeom prst="roundRect">
            <a:avLst>
              <a:gd name="adj" fmla="val 7792"/>
            </a:avLst>
          </a:prstGeom>
          <a:solidFill>
            <a:srgbClr val="1638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332720" y="448056"/>
            <a:ext cx="4023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COMP3020 Social Web Analysis · Group 18
</a:t>
            </a:r>
            <a:r>
              <a:rPr lang="en-US" sz="9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Sydney University · Group Project Poster
28 September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6146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4DC"/>
            </a:solidFill>
            <a:prstDash val="solid"/>
          </a:ln>
          <a:effectLst>
            <a:outerShdw blurRad="76200" dist="25400" dir="5400000" algn="bl" rotWithShape="0">
              <a:srgbClr val="6B7A7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0352" y="1508760"/>
            <a:ext cx="428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Cleaning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783080"/>
            <a:ext cx="428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 · Farhana  /  2.2 · Neville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984248"/>
            <a:ext cx="428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1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Bluesky posts mentioning “FIFA World Cup” (1 Jun–31 Jul 2026) with the atrrr package's search_skeet(), sorted by latest, limit 1,000.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530352" y="2587752"/>
            <a:ext cx="1298448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D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85216" y="2633472"/>
            <a:ext cx="11887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287944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collected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1920240" y="2587752"/>
            <a:ext cx="1298448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D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975104" y="2633472"/>
            <a:ext cx="11887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998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287944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de-dup &amp;</a:t>
            </a:r>
            <a:endParaRPr lang="en-US" sz="73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blank-text removal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3310128" y="2587752"/>
            <a:ext cx="1298448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D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364992" y="2633472"/>
            <a:ext cx="11887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355848" y="287944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</a:t>
            </a:r>
            <a:endParaRPr lang="en-US" sz="73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analysed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461467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4DC"/>
            </a:solidFill>
            <a:prstDash val="solid"/>
          </a:ln>
          <a:effectLst>
            <a:outerShdw blurRad="76200" dist="25400" dir="5400000" algn="bl" rotWithShape="0">
              <a:srgbClr val="6B7A7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30352" y="3429000"/>
            <a:ext cx="428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" y="3703320"/>
            <a:ext cx="428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2.3 · Neville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" y="3904488"/>
            <a:ext cx="428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posts mentioning a host country (USA, Canada, Mexico) differ in engagement from posts that don't?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30352" y="4398264"/>
            <a:ext cx="2084832" cy="621792"/>
          </a:xfrm>
          <a:prstGeom prst="roundRect">
            <a:avLst>
              <a:gd name="adj" fmla="val 8824"/>
            </a:avLst>
          </a:prstGeom>
          <a:solidFill>
            <a:srgbClr val="EAF4EE"/>
          </a:solidFill>
          <a:ln w="9525">
            <a:solidFill>
              <a:srgbClr val="D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85216" y="4443984"/>
            <a:ext cx="1975104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67.9 vs 34.5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" y="4758903"/>
            <a:ext cx="199339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engagement:</a:t>
            </a:r>
            <a:endParaRPr lang="en-US" sz="73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vs no mention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2706624" y="4398264"/>
            <a:ext cx="2029968" cy="621792"/>
          </a:xfrm>
          <a:prstGeom prst="roundRect">
            <a:avLst>
              <a:gd name="adj" fmla="val 8824"/>
            </a:avLst>
          </a:prstGeom>
          <a:solidFill>
            <a:srgbClr val="EAF4EE"/>
          </a:solidFill>
          <a:ln w="9525">
            <a:solidFill>
              <a:srgbClr val="D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761488" y="4443984"/>
            <a:ext cx="192024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vs 779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752344" y="4758903"/>
            <a:ext cx="193852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mentioning a</a:t>
            </a:r>
            <a:endParaRPr lang="en-US" sz="73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country vs not</a:t>
            </a:r>
            <a:endParaRPr lang="en-US" sz="730" dirty="0"/>
          </a:p>
        </p:txBody>
      </p:sp>
      <p:sp>
        <p:nvSpPr>
          <p:cNvPr id="30" name="Text 28"/>
          <p:cNvSpPr txBox="1"/>
          <p:nvPr/>
        </p:nvSpPr>
        <p:spPr>
          <a:xfrm>
            <a:off x="530352" y="5074920"/>
            <a:ext cx="428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rank-sum test </a:t>
            </a: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(engagement is right-skewed with many zeros, so normality fails for a t-test): W = 3792.5, </a:t>
            </a: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0.044</a:t>
            </a: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significant at α = 0.05.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" y="5586984"/>
            <a:ext cx="428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Host-country posts reached 85.7% engagement vs 62.8% for others — but only 14 of 793 posts mentioned a host country.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254752" y="1417320"/>
            <a:ext cx="461467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4DC"/>
            </a:solidFill>
            <a:prstDash val="solid"/>
          </a:ln>
          <a:effectLst>
            <a:outerShdw blurRad="76200" dist="25400" dir="5400000" algn="bl" rotWithShape="0">
              <a:srgbClr val="6B7A7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19344" y="1508760"/>
            <a:ext cx="428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&amp; Content Analysis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19344" y="1783080"/>
            <a:ext cx="428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 · Neville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419344" y="1984248"/>
            <a:ext cx="428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9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English posts, 12–319 characters (median 151), 1–59 words (median 25). After removing stop-words and search terms, 2,627 distinct words remained.</a:t>
            </a:r>
            <a:endParaRPr lang="en-US" sz="89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5346192" y="2459736"/>
          <a:ext cx="4431792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7" name="Image 0" descr="/tmp/claude-0/-home-claude/5fcb9bc8-eb9a-502d-b8f7-bd7871e611de/scratchpad/poster_a3/wordcloud_m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0840" y="3886200"/>
            <a:ext cx="1682496" cy="1553073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5419344" y="5494137"/>
            <a:ext cx="428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 of the 793 English posts — the news story's vocabulary (“uefa”, “infantino”, “boycott”) dominates over general World Cup talk.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10143744" y="1417320"/>
            <a:ext cx="46146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4DC"/>
            </a:solidFill>
            <a:prstDash val="solid"/>
          </a:ln>
          <a:effectLst>
            <a:outerShdw blurRad="76200" dist="25400" dir="5400000" algn="bl" rotWithShape="0">
              <a:srgbClr val="6B7A7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10308336" y="1508760"/>
            <a:ext cx="428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10308336" y="1783080"/>
            <a:ext cx="428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2.4 · Farhana &amp; Annelise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10308336" y="1984248"/>
            <a:ext cx="428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vectors, cosine (MDS) distance. No clear elbow in SSW from k=1–15; k=8 chosen.</a:t>
            </a:r>
            <a:endParaRPr lang="en-US" sz="860" dirty="0"/>
          </a:p>
        </p:txBody>
      </p:sp>
      <p:graphicFrame>
        <p:nvGraphicFramePr>
          <p:cNvPr id="43" name="Chart 1"/>
          <p:cNvGraphicFramePr/>
          <p:nvPr/>
        </p:nvGraphicFramePr>
        <p:xfrm>
          <a:off x="10235184" y="2276856"/>
          <a:ext cx="4431792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4" name="Text 39"/>
          <p:cNvSpPr txBox="1"/>
          <p:nvPr/>
        </p:nvSpPr>
        <p:spPr>
          <a:xfrm>
            <a:off x="10308336" y="3154680"/>
            <a:ext cx="428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7 alone = 487 of 793 posts (61%)</a:t>
            </a:r>
            <a:r>
              <a:rPr lang="en-US" sz="79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dominant topic.</a:t>
            </a:r>
            <a:endParaRPr lang="en-US" sz="790" dirty="0"/>
          </a:p>
        </p:txBody>
      </p:sp>
      <p:sp>
        <p:nvSpPr>
          <p:cNvPr id="45" name="Shape 40"/>
          <p:cNvSpPr/>
          <p:nvPr/>
        </p:nvSpPr>
        <p:spPr>
          <a:xfrm>
            <a:off x="10143744" y="3566160"/>
            <a:ext cx="461467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4DC"/>
            </a:solidFill>
            <a:prstDash val="solid"/>
          </a:ln>
          <a:effectLst>
            <a:outerShdw blurRad="76200" dist="25400" dir="5400000" algn="bl" rotWithShape="0">
              <a:srgbClr val="6B7A7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10308336" y="3657600"/>
            <a:ext cx="428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1 — Explored in Detail</a:t>
            </a:r>
            <a:endParaRPr lang="en-US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10308336" y="3931920"/>
            <a:ext cx="428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41 of 793 posts (5%)</a:t>
            </a:r>
            <a:endParaRPr lang="en-US" sz="900" dirty="0"/>
          </a:p>
        </p:txBody>
      </p:sp>
      <p:pic>
        <p:nvPicPr>
          <p:cNvPr id="48" name="Image 1" descr="/tmp/claude-0/-home-claude/5fcb9bc8-eb9a-502d-b8f7-bd7871e611de/scratchpad/poster_a3/wordcloud_cluster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765280" y="4169664"/>
            <a:ext cx="1371600" cy="1365924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10308336" y="5572164"/>
            <a:ext cx="428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terms: investors, private, stakes, sell — an investment/sale framing, not sport.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365760" y="6080760"/>
            <a:ext cx="14392656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4DC"/>
            </a:solidFill>
            <a:prstDash val="solid"/>
          </a:ln>
          <a:effectLst>
            <a:outerShdw blurRad="76200" dist="25400" dir="5400000" algn="bl" rotWithShape="0">
              <a:srgbClr val="6B7A7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 txBox="1"/>
          <p:nvPr/>
        </p:nvSpPr>
        <p:spPr>
          <a:xfrm>
            <a:off x="530352" y="6172200"/>
            <a:ext cx="1406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Analysis</a:t>
            </a:r>
            <a:endParaRPr lang="en-US" sz="1500" dirty="0"/>
          </a:p>
        </p:txBody>
      </p:sp>
      <p:sp>
        <p:nvSpPr>
          <p:cNvPr id="52" name="Text 46"/>
          <p:cNvSpPr txBox="1"/>
          <p:nvPr/>
        </p:nvSpPr>
        <p:spPr>
          <a:xfrm>
            <a:off x="530352" y="6446520"/>
            <a:ext cx="1406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 · Annelise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530352" y="6720840"/>
            <a:ext cx="9573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is the Bluesky likes-network more dense with a news account as the seed, or an ordinary account?  Seed posts: the single most-liked skeet by itismashagain.bsky.social (normal) and by npr.org (news); edges run from seed → likers → people who liked the likers' own posts.</a:t>
            </a:r>
            <a:endParaRPr lang="en-US" sz="840" dirty="0"/>
          </a:p>
        </p:txBody>
      </p:sp>
      <p:sp>
        <p:nvSpPr>
          <p:cNvPr id="54" name="Shape 48"/>
          <p:cNvSpPr/>
          <p:nvPr/>
        </p:nvSpPr>
        <p:spPr>
          <a:xfrm>
            <a:off x="530352" y="7159752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D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 txBox="1"/>
          <p:nvPr/>
        </p:nvSpPr>
        <p:spPr>
          <a:xfrm>
            <a:off x="585216" y="7205472"/>
            <a:ext cx="217627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 / 232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576072" y="745144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seed: nodes / edges</a:t>
            </a:r>
            <a:endParaRPr lang="en-US" sz="730" dirty="0"/>
          </a:p>
        </p:txBody>
      </p:sp>
      <p:sp>
        <p:nvSpPr>
          <p:cNvPr id="57" name="Shape 51"/>
          <p:cNvSpPr/>
          <p:nvPr/>
        </p:nvSpPr>
        <p:spPr>
          <a:xfrm>
            <a:off x="2953512" y="7159752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D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 txBox="1"/>
          <p:nvPr/>
        </p:nvSpPr>
        <p:spPr>
          <a:xfrm>
            <a:off x="3008376" y="7205472"/>
            <a:ext cx="217627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 / 107</a:t>
            </a:r>
            <a:endParaRPr lang="en-US" sz="1500" dirty="0"/>
          </a:p>
        </p:txBody>
      </p:sp>
      <p:sp>
        <p:nvSpPr>
          <p:cNvPr id="59" name="Text 53"/>
          <p:cNvSpPr txBox="1"/>
          <p:nvPr/>
        </p:nvSpPr>
        <p:spPr>
          <a:xfrm>
            <a:off x="2999232" y="745144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3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seed: nodes / edges</a:t>
            </a:r>
            <a:endParaRPr lang="en-US" sz="730" dirty="0"/>
          </a:p>
        </p:txBody>
      </p:sp>
      <p:graphicFrame>
        <p:nvGraphicFramePr>
          <p:cNvPr id="60" name="Chart 2"/>
          <p:cNvGraphicFramePr/>
          <p:nvPr/>
        </p:nvGraphicFramePr>
        <p:xfrm>
          <a:off x="457200" y="7781544"/>
          <a:ext cx="9573768" cy="86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1" name="Text 54"/>
          <p:cNvSpPr txBox="1"/>
          <p:nvPr/>
        </p:nvSpPr>
        <p:spPr>
          <a:xfrm>
            <a:off x="530352" y="8750808"/>
            <a:ext cx="9573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networks: </a:t>
            </a:r>
            <a:r>
              <a:rPr lang="en-US" sz="81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~93–94% of nodes have in-degree 2. By degree and closeness, the seed account itself is most central in both; by betweenness, a different bridge takes over — tandy400.bsky.social (normal), pfalcon.bsky.social (news).</a:t>
            </a:r>
            <a:endParaRPr lang="en-US" sz="810" dirty="0"/>
          </a:p>
        </p:txBody>
      </p:sp>
      <p:pic>
        <p:nvPicPr>
          <p:cNvPr id="62" name="Image 2" descr="/tmp/claude-0/-home-claude/5fcb9bc8-eb9a-502d-b8f7-bd7871e611de/scratchpad/poster_a3/network_comparison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69471" y="6720840"/>
            <a:ext cx="4016203" cy="2148840"/>
          </a:xfrm>
          <a:prstGeom prst="rect">
            <a:avLst/>
          </a:prstGeom>
        </p:spPr>
      </p:pic>
      <p:sp>
        <p:nvSpPr>
          <p:cNvPr id="63" name="Text 55"/>
          <p:cNvSpPr txBox="1"/>
          <p:nvPr/>
        </p:nvSpPr>
        <p:spPr>
          <a:xfrm>
            <a:off x="10396728" y="8942832"/>
            <a:ext cx="4361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two-hop likes networks — the news-site seed is visibly tighter and more interconnected than the normal-user seed.</a:t>
            </a:r>
            <a:endParaRPr lang="en-US" sz="760" dirty="0"/>
          </a:p>
        </p:txBody>
      </p:sp>
      <p:sp>
        <p:nvSpPr>
          <p:cNvPr id="64" name="Shape 56"/>
          <p:cNvSpPr/>
          <p:nvPr/>
        </p:nvSpPr>
        <p:spPr>
          <a:xfrm>
            <a:off x="365760" y="9464040"/>
            <a:ext cx="7059168" cy="905256"/>
          </a:xfrm>
          <a:prstGeom prst="roundRect">
            <a:avLst>
              <a:gd name="adj" fmla="val 8081"/>
            </a:avLst>
          </a:prstGeom>
          <a:solidFill>
            <a:srgbClr val="EAF4EE"/>
          </a:solidFill>
          <a:ln w="12700">
            <a:solidFill>
              <a:srgbClr val="D7E4DC"/>
            </a:solidFill>
            <a:prstDash val="solid"/>
          </a:ln>
          <a:effectLst>
            <a:outerShdw blurRad="76200" dist="25400" dir="5400000" algn="bl" rotWithShape="0">
              <a:srgbClr val="6B7A7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 57"/>
          <p:cNvSpPr txBox="1"/>
          <p:nvPr/>
        </p:nvSpPr>
        <p:spPr>
          <a:xfrm>
            <a:off x="512064" y="9528048"/>
            <a:ext cx="6784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6" name="Text 58"/>
          <p:cNvSpPr txBox="1"/>
          <p:nvPr/>
        </p:nvSpPr>
        <p:spPr>
          <a:xfrm>
            <a:off x="512064" y="9756648"/>
            <a:ext cx="678484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3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viral UEFA/Infantino news story dominated this one-day snapshot of 1,030 World-Cup posts: it drove the word frequencies, produced one giant text cluster (61% of posts), and shaped which accounts anchored the likes networks. Host-country mentions showed significantly higher engagement (p = 0.044), and a news account's likes network was more than twice as dense as an ordinary user's — both patterns specific to this story and this sample, not World Cup discussion in general.</a:t>
            </a:r>
            <a:endParaRPr lang="en-US" sz="830" dirty="0"/>
          </a:p>
        </p:txBody>
      </p:sp>
      <p:sp>
        <p:nvSpPr>
          <p:cNvPr id="67" name="Shape 59"/>
          <p:cNvSpPr/>
          <p:nvPr/>
        </p:nvSpPr>
        <p:spPr>
          <a:xfrm>
            <a:off x="7699248" y="9464040"/>
            <a:ext cx="7059168" cy="905256"/>
          </a:xfrm>
          <a:prstGeom prst="roundRect">
            <a:avLst>
              <a:gd name="adj" fmla="val 8081"/>
            </a:avLst>
          </a:prstGeom>
          <a:solidFill>
            <a:srgbClr val="EAF4EE"/>
          </a:solidFill>
          <a:ln w="12700">
            <a:solidFill>
              <a:srgbClr val="D7E4DC"/>
            </a:solidFill>
            <a:prstDash val="solid"/>
          </a:ln>
          <a:effectLst>
            <a:outerShdw blurRad="76200" dist="25400" dir="5400000" algn="bl" rotWithShape="0">
              <a:srgbClr val="6B7A7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 60"/>
          <p:cNvSpPr txBox="1"/>
          <p:nvPr/>
        </p:nvSpPr>
        <p:spPr>
          <a:xfrm>
            <a:off x="7845552" y="9528048"/>
            <a:ext cx="6784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69" name="Text 61"/>
          <p:cNvSpPr txBox="1"/>
          <p:nvPr/>
        </p:nvSpPr>
        <p:spPr>
          <a:xfrm>
            <a:off x="7845552" y="9756648"/>
            <a:ext cx="678484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3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Bluesky-only and English-only data; the search term “FIFA World Cup” can miss relevant posts and match unrelated link previews; engagement counts are a snapshot that changes after collection; k = 8 was chosen without a clear elbow; and the two ego-networks have different sizes by construction, so their densities are suggestive, not strictly comparable.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672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Farhana Akter</cp:lastModifiedBy>
  <cp:revision>1</cp:revision>
  <dcterms:created xsi:type="dcterms:W3CDTF">2026-10-09T07:15:54Z</dcterms:created>
  <dcterms:modified xsi:type="dcterms:W3CDTF">2026-10-09T07:22:59Z</dcterms:modified>
</cp:coreProperties>
</file>